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Drift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Inc. (NYSE: XYZ)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743200" cy="0"/>
          </a:xfrm>
          <a:prstGeom prst="line">
            <a:avLst/>
          </a:prstGeom>
          <a:noFill/>
          <a:ln w="3175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Coherence Between Stated Strategy and Execution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28, 2026  |  Analysis Period: Feb 2025 – Feb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Strategy Drift?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258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measurable gap between what a company says it will do and what it actually does.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2468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74320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8529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narrative vs. execution mismatches before they impact valuation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2606040"/>
            <a:ext cx="2468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274320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8529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that management's stated priorities match resource allocation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2606040"/>
            <a:ext cx="2468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49440" y="274320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8529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6364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shadow strategies and unacknowledged risk concentrations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234440" cy="105156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sources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6AB"/>
                </a:solidFill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188720"/>
            <a:ext cx="1234440" cy="105156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22+18+24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6AB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1234440" cy="105156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pillars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6AB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188720"/>
            <a:ext cx="1234440" cy="105156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6AB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1234440" cy="105156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6092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6AB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43800" y="1188720"/>
            <a:ext cx="1234440" cy="105156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43800" y="1234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3,800 words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Bias Distribution (50 sources)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2953512"/>
            <a:ext cx="2798064" cy="20116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/>
          <p:nvPr/>
        </p:nvSpPr>
        <p:spPr>
          <a:xfrm>
            <a:off x="5358384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Company-produced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273552"/>
            <a:ext cx="2633472" cy="20116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2" name="Text 30"/>
          <p:cNvSpPr/>
          <p:nvPr/>
        </p:nvSpPr>
        <p:spPr>
          <a:xfrm>
            <a:off x="5193792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analyst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68880" y="3593592"/>
            <a:ext cx="1152144" cy="2011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3712464" y="3566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3913632"/>
            <a:ext cx="658368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3218688" y="3886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 social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468880" y="4233672"/>
            <a:ext cx="658368" cy="201168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41" name="Text 39"/>
          <p:cNvSpPr/>
          <p:nvPr/>
        </p:nvSpPr>
        <p:spPr>
          <a:xfrm>
            <a:off x="3218688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report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68880" y="4553712"/>
            <a:ext cx="329184" cy="201168"/>
          </a:xfrm>
          <a:prstGeom prst="rect">
            <a:avLst/>
          </a:prstGeom>
          <a:solidFill>
            <a:srgbClr val="8A99A8"/>
          </a:solidFill>
          <a:ln/>
        </p:spPr>
      </p:sp>
      <p:sp>
        <p:nvSpPr>
          <p:cNvPr id="44" name="Text 42"/>
          <p:cNvSpPr/>
          <p:nvPr/>
        </p:nvSpPr>
        <p:spPr>
          <a:xfrm>
            <a:off x="2889504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Principles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0" y="2926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qualification per finding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weighted scoring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Academic-grade evidence citation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sufficiency gates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strategy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Block’s 6 Strategic Pillars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88720"/>
            <a:ext cx="54864" cy="1645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94560" y="1325880"/>
            <a:ext cx="64008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Transformation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PIL-001  |  Conf: 0.88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54864" cy="1645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74920" y="1325880"/>
            <a:ext cx="64008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2900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App Financial 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PIL-002  |  Conf: 0.93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88720"/>
            <a:ext cx="54864" cy="1645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955280" y="1325880"/>
            <a:ext cx="64008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0936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Growth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PIL-003  |  Conf: 0.92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08960"/>
            <a:ext cx="54864" cy="1645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2194560" y="3246120"/>
            <a:ext cx="640080" cy="274320"/>
          </a:xfrm>
          <a:prstGeom prst="rect">
            <a:avLst/>
          </a:prstGeom>
          <a:solidFill>
            <a:srgbClr val="8A99A8"/>
          </a:solidFill>
          <a:ln/>
        </p:spPr>
      </p:sp>
      <p:sp>
        <p:nvSpPr>
          <p:cNvPr id="28" name="Text 26"/>
          <p:cNvSpPr/>
          <p:nvPr/>
        </p:nvSpPr>
        <p:spPr>
          <a:xfrm>
            <a:off x="219456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Seller Ecosystem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PIL-004  |  Conf: 0.90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108960"/>
            <a:ext cx="54864" cy="1645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5074920" y="3246120"/>
            <a:ext cx="64008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2900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Interconnection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290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PIL-005  |  Conf: 0.75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29000" y="4434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(analyst-inferred)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3108960"/>
            <a:ext cx="54864" cy="1645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7955280" y="3246120"/>
            <a:ext cx="640080" cy="274320"/>
          </a:xfrm>
          <a:prstGeom prst="rect">
            <a:avLst/>
          </a:prstGeom>
          <a:solidFill>
            <a:srgbClr val="8A99A8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&amp; Decentralized Infra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936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PIL-006  |  Conf: 0.80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 Scorecard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0" y="137160"/>
            <a:ext cx="1645920" cy="91440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182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685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Drift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PIL-003: Profitable Growth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1490472"/>
            <a:ext cx="3657600" cy="256032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1490472"/>
            <a:ext cx="3547872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7662672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PIL-002: Cash App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993392"/>
            <a:ext cx="3657600" cy="256032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3360" y="1993392"/>
            <a:ext cx="3438144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7552944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PIL-004: Square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2496312"/>
            <a:ext cx="3657600" cy="256032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023360" y="2496312"/>
            <a:ext cx="310896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PIL-006: Bitcoin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2999232"/>
            <a:ext cx="3657600" cy="256032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023360" y="2999232"/>
            <a:ext cx="2487168" cy="256032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25" name="Text 23"/>
          <p:cNvSpPr/>
          <p:nvPr/>
        </p:nvSpPr>
        <p:spPr>
          <a:xfrm>
            <a:off x="6601968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Drift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PIL-001: AI-Native (#1 Priority)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023360" y="3502152"/>
            <a:ext cx="3657600" cy="256032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29" name="Shape 27"/>
          <p:cNvSpPr/>
          <p:nvPr/>
        </p:nvSpPr>
        <p:spPr>
          <a:xfrm>
            <a:off x="4023360" y="3502152"/>
            <a:ext cx="2157984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6272784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Drift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PIL-005: Ecosystem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023360" y="4005072"/>
            <a:ext cx="3657600" cy="256032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34" name="Shape 32"/>
          <p:cNvSpPr/>
          <p:nvPr/>
        </p:nvSpPr>
        <p:spPr>
          <a:xfrm>
            <a:off x="4023360" y="4005072"/>
            <a:ext cx="1645920" cy="25603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5528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Drift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4251960"/>
            <a:ext cx="768096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251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Inversion: #1 Priority (AI-Native) scores 2.95 while #3 Priority (Profitability) scores 4.85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1: The AI-Native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64592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68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2.95 — Significant Drift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868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Stated Priority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Drift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$450–500M restructuring, 40%+ workforce cut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fulfilled commitments (0 of 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Q4 2025 — no historical precedent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Bloomberg, CNN, CNBC frame as job cuts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estimated resource allocation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Counterpoints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“Goose” AI platform predates announcement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code per engineer since Sep 2025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Stanley upgrade validates thesis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technical AI focus areas articulated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7680960" cy="5943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976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Needs 12+ months of evidence. Watch Q1–Q2 2026 for measurable AI productivity beyond self-reported code metrics.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2: Profitability Is the Real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37160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68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4.85 — Aligned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coherence score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contradicted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$2.07B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Operating Income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-$279M loss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Beat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560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quarters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Guidance Beat Pattern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GP: Initial $10.22B  →  Q2 raise $10.17B  →  Q3 raise $10.24B  →  Actual $10.36B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2028 targets ($15.8B GP, $5.50 EPS) are likely conservative post-restructuring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3: The Hidden Lending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219456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68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Strategy: Consumer Credit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9659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Originations YoY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417320"/>
            <a:ext cx="19659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Loss Expenses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17320"/>
            <a:ext cx="1965960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C9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+69%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Lending Volume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4173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417320"/>
            <a:ext cx="19659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+24%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95160" y="2103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Business Growth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288036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29184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grows 3x faster than the business — not tracked as a standalone strategic pillar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Dec/Jan Borrow cohort losses exceeded sub-3% target before normalizing mid-February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 in-house origination + Cash App Score pilot = infrastructure for a dedicated lending business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losses exceed target persistently, impacts Cash App coherence AND profitability pillar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4: Bitcoin — Identity vs. Priority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828800" cy="3200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3.40 — Minor Drift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Signals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literally named after blockchain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Dorsey: Bitcoin’s most prominent CEO advocate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8,883 BTC on balance sheet (~$500M+)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mining rig, Bitkey wallet, Spiral OSS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#6 of 6 strategic pillars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resource allocation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TBD/Web5 shut down, scope narrowed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 financial targets for Bitcoin segment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declined ~20% YoY in Q4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31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Genuine but bounded commitment. Dorsey’s advocacy has not resulted in disproportionate resource allocation. A managed tension, not an urgent concern.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Allocation vs. Stated Priority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Ranking (by C-level emphasis)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4572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AI-Native Transformation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11680"/>
            <a:ext cx="45720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Cash 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14600"/>
            <a:ext cx="457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Profitable Growth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017520"/>
            <a:ext cx="45720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Square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20440"/>
            <a:ext cx="45720" cy="411480"/>
          </a:xfrm>
          <a:prstGeom prst="rect">
            <a:avLst/>
          </a:prstGeom>
          <a:solidFill>
            <a:srgbClr val="8A99A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Ecosystem Interconnection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023360"/>
            <a:ext cx="4572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 Bitcoin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Resource Allocation (%)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581912"/>
            <a:ext cx="2240280" cy="2743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1508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011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084832"/>
            <a:ext cx="160020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2011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2514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587752"/>
            <a:ext cx="960120" cy="2743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2514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017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090672"/>
            <a:ext cx="64008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3017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3520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3593592"/>
            <a:ext cx="64008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4023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4096512"/>
            <a:ext cx="192024" cy="274320"/>
          </a:xfrm>
          <a:prstGeom prst="rect">
            <a:avLst/>
          </a:prstGeom>
          <a:solidFill>
            <a:srgbClr val="8A99A8"/>
          </a:solidFill>
          <a:ln/>
        </p:spPr>
      </p:sp>
      <p:sp>
        <p:nvSpPr>
          <p:cNvPr id="40" name="Text 38"/>
          <p:cNvSpPr/>
          <p:nvPr/>
        </p:nvSpPr>
        <p:spPr>
          <a:xfrm>
            <a:off x="6592824" y="4023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#1 priority by C-level airtime (AI-Native: 10% allocation) ranks #4 by actual resources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Credibility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analyzed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96596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0604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elements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196596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mapped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188720"/>
            <a:ext cx="196596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234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9037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tracked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weighted coherence scoring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qualification per finding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primary sources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strategy detection protocol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sufficiency gates (7 thresholds met)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Limitations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Single-analyst limitation (LLM-based)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information only — no internal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mid-execution at analysis 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scores involve subjective judgment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bias tilted toward Feb 2026 event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What to Watch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162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Machine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(4.85) and Cash App (4.70) are strongly aligned. Block executes best on financial discipline.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162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1463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Unproven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priority scores 2.95. Watch Q1–Q2 2026 for evidence beyond self-reported code metrics.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463040"/>
          </a:xfrm>
          <a:prstGeom prst="rect">
            <a:avLst/>
          </a:prstGeom>
          <a:solidFill>
            <a:srgbClr val="162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1463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Lending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337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credit growing 3x faster than the business. No one is naming it as a strategic pillar.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463040"/>
          </a:xfrm>
          <a:prstGeom prst="rect">
            <a:avLst/>
          </a:prstGeom>
          <a:solidFill>
            <a:srgbClr val="162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54864" cy="14630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Bitcoin: Bounded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337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but not the existential bet it appears. Rank #6, 10% allocation. Managed tension.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Targets ($15.8B GP, $5.50 EPS) are likely conservative post-restructuring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Drift Analysis: Block, Inc.</dc:title>
  <dc:subject>PptxGenJS Presentation</dc:subject>
  <dc:creator>Strategy Drift Detector</dc:creator>
  <cp:lastModifiedBy>Strategy Drift Detector</cp:lastModifiedBy>
  <cp:revision>1</cp:revision>
  <dcterms:created xsi:type="dcterms:W3CDTF">2026-02-28T15:54:06Z</dcterms:created>
  <dcterms:modified xsi:type="dcterms:W3CDTF">2026-02-28T15:54:06Z</dcterms:modified>
</cp:coreProperties>
</file>